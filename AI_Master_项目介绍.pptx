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iCAN答辩稿。第2页。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iCAN答辩稿。第3页。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iCAN答辩稿。第4页。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iCAN答辩稿。第5页。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iCAN答辩稿。第6页。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iCAN答辩稿。第7页。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iCAN答辩稿。第8页。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iCAN答辩稿。第9页。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iCAN答辩稿。第10页。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iCAN答辩稿。第11页。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iCAN答辩稿。第12页。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iCAN答辩稿。第13页。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iCAN答辩稿。第14页。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iCAN答辩稿。第15页。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iCAN答辩稿。第16页。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iCAN答辩稿。第17页。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iCAN答辩稿。第18页。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iCAN答辩稿。第19页。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iCAN答辩稿。第20页。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iCAN答辩稿。第21页。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iCAN答辩稿。第22页。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让大学生真正开口学 AI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讲解通关 · 即时反馈 · 本机记录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8368" y="41148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C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iCAN 国赛答辩稿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0" y="594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MINUTES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答辩路线：问题 → 产品 → 证据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87452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为什么做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240280"/>
            <a:ext cx="298094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“看过”不等于“会讲”。先验证真实需求，再把学习结果变成可检查的表达。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164592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187452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怎么做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8094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讲解通关工作台，把主动表达、客观测验和本机记录串成闭环。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9016" y="164592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0184" y="187452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4504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证据与边界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0184" y="2240280"/>
            <a:ext cx="298094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真实截图、需求问卷与对抗性审计；同时把原型边界讲清楚。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评委 3 秒抓住主线：让学习结果可见、可测、可复盘。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需求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看完视频，就真的学会了吗？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pic>
        <p:nvPicPr>
          <p:cNvPr id="5" name="Image 0" descr="D:\新建文件夹\github-upload\.orchestrator\pptx-work\crops-1400\功能02-痛点字幕卡-看完视频就真的学会了吗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6726"/>
            <a:ext cx="7498080" cy="4686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23444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67928" y="146304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42248" y="1417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需求信号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67928" y="1828800"/>
            <a:ext cx="23865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13/20（65%）受访者有“用自己的话讲一遍”的习惯。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66760" y="25603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67928" y="278892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42248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工具意愿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67928" y="3154680"/>
            <a:ext cx="23865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16/20（80%）愿意/非常愿意使用“讲解自动判断”。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366760" y="388620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67928" y="411480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42248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学习判断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67928" y="4480560"/>
            <a:ext cx="23865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17/20（85%）认可“能讲清楚≈真正学会”。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来源：docs/ican/evidence/survey-analysis.md:25-35；n=20，仅作探索性需求证据。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需求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产品定位：把“会不会”变成一条证据链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7830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1737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148840"/>
            <a:ext cx="30266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面向大学生的 AI 通识与 RAG 入门学习原型。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0288" y="178308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37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解决什么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2148840"/>
            <a:ext cx="30266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从被动看视频，转向主动表达 + 客观测验。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5544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93608" y="178308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1737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凭什么可信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93608" y="2148840"/>
            <a:ext cx="30266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讲解与测验双重验证，结果进入本机学习记录。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当前定位：可演示、可验收的本机学习原型。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产品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学习闭环：先讲清，再测出，再留下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pic>
        <p:nvPicPr>
          <p:cNvPr id="5" name="Image 0" descr="D:\新建文件夹\github-upload\.orchestrator\pptx-work\crops-1400\功能18-讲解检查反馈-通过标记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37297"/>
            <a:ext cx="7818120" cy="48863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41732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E8EDF7"/>
          </a:solidFill>
          <a:ln w="12700">
            <a:solidFill>
              <a:srgbClr val="D6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15179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0392" y="1764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48840" y="141732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E8EDF7"/>
          </a:solidFill>
          <a:ln w="12700">
            <a:solidFill>
              <a:srgbClr val="D6DE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67712" y="15179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67712" y="1764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2441448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E8EDF7"/>
          </a:solidFill>
          <a:ln w="12700">
            <a:solidFill>
              <a:srgbClr val="D6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42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0392" y="2788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阅读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48840" y="2441448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E8EDF7"/>
          </a:solidFill>
          <a:ln w="12700">
            <a:solidFill>
              <a:srgbClr val="D6DE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67712" y="2542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67712" y="2788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自己讲解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3465576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42D6C5"/>
          </a:solidFill>
          <a:ln w="12700">
            <a:solidFill>
              <a:srgbClr val="D6DE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" y="35661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0392" y="3813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即时反馈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148840" y="3465576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E8EDF7"/>
          </a:solidFill>
          <a:ln w="12700">
            <a:solidFill>
              <a:srgbClr val="D6DE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67712" y="35661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267712" y="3813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测验 ≥75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" y="4489704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E8EDF7"/>
          </a:solidFill>
          <a:ln w="12700">
            <a:solidFill>
              <a:srgbClr val="D6DE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" y="45902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50392" y="4837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通关记录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截图证据：功能演示-22镜/功能18-讲解检查反馈-通过标记.jpg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产品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产品体验：三步进入一次学习任务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pic>
        <p:nvPicPr>
          <p:cNvPr id="5" name="Image 0" descr="D:\新建文件夹\github-upload\.orchestrator\pptx-work\crops-1400\功能15-三步通关-阅读学习自己讲解测验通关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58368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5544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44968" y="17830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19288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进入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44968" y="214884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基础诊断，明确今日学习目标。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43800" y="28803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44968" y="310896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9288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表达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44968" y="347472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用自己的话讲解，留下草稿。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43800" y="420624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44968" y="443484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19288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通关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44968" y="48006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 + 测验，结果进入本机记录。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另两张真实界面截图用于演示素材：功能12、功能17；本页优先保证主流程可读。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产品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七大模块：从基础模型到安全边界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830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4884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大模型生成基础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178308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75888" y="214884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可验收提示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178308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214884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15544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17830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36608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62288" y="214884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检索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2971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320040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356616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评估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2971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75888" y="320040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0208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75888" y="356616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工具调用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2971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9088" y="320040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19088" y="356616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安全边界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七模块题库已完成；课程内容仍需持续审校。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技术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技术分界：每个判断由谁负责？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3736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讲解完整性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03120"/>
            <a:ext cx="29809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本地规则检查机制、例子、边界等结构要素。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150876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173736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讲解语义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2103120"/>
            <a:ext cx="29809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可选服务端 AI 复评；显示来源，失败明确降级。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150876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173736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58784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客观测验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84464" y="2103120"/>
            <a:ext cx="29809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服务端预设标答独立判分，不由语言模型决定答案。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设计原则：模型辅助解释，关键通关条件保持可验收。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技术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来源可溯，失败可见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830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反馈来源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48840"/>
            <a:ext cx="47183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界面标注本地规则或结构化模型复评；评委能知道这条结论从哪里来。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178308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失败降级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148840"/>
            <a:ext cx="47183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模型调用失败不自动判定讲解通过；未配置模型仍可使用本地练习规则。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不把“调用成功”伪装成“学习成功”。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技术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轻量本机架构：能跑、可控、边界清楚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pic>
        <p:nvPicPr>
          <p:cNvPr id="5" name="Image 0" descr="D:\新建文件夹\github-upload\.orchestrator\pptx-work\crops-1400\功能21-学习记录-导出学习档案JS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234440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4173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" y="164592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07008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24 + SQLite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2011680"/>
            <a:ext cx="2752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记录保存在本机。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7432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97180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默认本机访问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2688" y="3337560"/>
            <a:ext cx="2752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可快速部署，隐私边界清楚。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406908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429768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4251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记录可导出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32688" y="4663440"/>
            <a:ext cx="2752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便于复盘与迁移。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截图证据：功能演示-22镜/功能21-学习记录-导出学习档案JSON.jpg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技术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分层架构与边界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502920"/>
          </a:xfrm>
          <a:prstGeom prst="roundRect">
            <a:avLst>
              <a:gd name="adj" fmla="val 5455"/>
            </a:avLst>
          </a:prstGeom>
          <a:solidFill>
            <a:srgbClr val="202A49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99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49961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149961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沿用课程与交互页面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10698480" cy="502920"/>
          </a:xfrm>
          <a:prstGeom prst="roundRect">
            <a:avLst>
              <a:gd name="adj" fmla="val 5455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579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1579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r128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215798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浏览器支持与性能需实测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88336"/>
            <a:ext cx="10698480" cy="502920"/>
          </a:xfrm>
          <a:prstGeom prst="roundRect">
            <a:avLst>
              <a:gd name="adj" fmla="val 5455"/>
            </a:avLst>
          </a:prstGeom>
          <a:solidFill>
            <a:srgbClr val="202A49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816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8163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章节与题库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28163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原课程待审校，不自动作为标答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346704"/>
            <a:ext cx="10698480" cy="502920"/>
          </a:xfrm>
          <a:prstGeom prst="roundRect">
            <a:avLst>
              <a:gd name="adj" fmla="val 5455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474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学习服务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4747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内置 HTTP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34747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默认本机，非互联网生产部署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005072"/>
            <a:ext cx="10698480" cy="502920"/>
          </a:xfrm>
          <a:prstGeom prst="roundRect">
            <a:avLst>
              <a:gd name="adj" fmla="val 5455"/>
            </a:avLst>
          </a:prstGeom>
          <a:solidFill>
            <a:srgbClr val="202A49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133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41330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413308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本机访客档案，不声称云同步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663440"/>
            <a:ext cx="10698480" cy="502920"/>
          </a:xfrm>
          <a:prstGeom prst="roundRect">
            <a:avLst>
              <a:gd name="adj" fmla="val 5455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7914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讲解评价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60320" y="47914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本地规则 + 可选模型复评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4791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显示来源、失败降级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场景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应用场景：同一闭环，四种学习节奏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3736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6916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高校 AI 通识课堂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03120"/>
            <a:ext cx="4672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课前诊断 → 课中练习 → 课后记录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73736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916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入门自学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808" y="2103120"/>
            <a:ext cx="4672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按模块闯关，边讲边纠偏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365760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6118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线下工作坊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4023360"/>
            <a:ext cx="4672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本机快速部署，统一路径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4290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08" y="365760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36118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个人复习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4808" y="4023360"/>
            <a:ext cx="4672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错题、尝试与复习安排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场景是当前产品设计目标，教育效果仍待真实试点验证。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场景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高校课堂：把参与从“举手”变成“表达”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pic>
        <p:nvPicPr>
          <p:cNvPr id="5" name="Image 0" descr="D:\新建文件夹\github-upload\.orchestrator\pptx-work\crops-1400\功能16-阅读学习-本节要点与讲解任务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40255"/>
            <a:ext cx="5029200" cy="3143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50876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73368" y="173736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47688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73368" y="2103120"/>
            <a:ext cx="4535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基础诊断 + 学习目标，定位知识缺口。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88036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73368" y="310896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47688" y="3063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课中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73368" y="3474720"/>
            <a:ext cx="4535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核心模块讲解与即时反馈，提升参与。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425196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73368" y="448056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47688" y="4434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73368" y="4846320"/>
            <a:ext cx="4535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测验通关与错题复习，形成过程记录。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场景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自学：用自己的话解释抽象概念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pic>
        <p:nvPicPr>
          <p:cNvPr id="5" name="Image 0" descr="D:\新建文件夹\github-upload\.orchestrator\pptx-work\crops-1400\功能09-RAG可视化-向量嵌入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8737"/>
            <a:ext cx="7452360" cy="46577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67928" y="164592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42248" y="1600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任务路径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67928" y="2011680"/>
            <a:ext cx="2386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 → 评估 → 安全边界。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66760" y="297180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67928" y="320040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42248" y="3154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关键动作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67928" y="3566160"/>
            <a:ext cx="2386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解释、纠偏、测验。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场景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工作坊与复习：部署简单，结果可带走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pic>
        <p:nvPicPr>
          <p:cNvPr id="5" name="Image 0" descr="D:\新建文件夹\github-upload\.orchestrator\pptx-work\crops-1400\功能20-错题与复习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40255"/>
            <a:ext cx="5029200" cy="3143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55448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73368" y="17830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47688" y="1737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73368" y="2148840"/>
            <a:ext cx="4535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实验室 / 工作坊快速部署本机服务，统一学习路径。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315468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73368" y="338328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47688" y="3337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复习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73368" y="3749040"/>
            <a:ext cx="4535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本机保存尝试、错题与复习安排，支持记录导出。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验证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对抗性审计：规则层不是语义理解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830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naiveBot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48840"/>
            <a:ext cx="284378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140 通过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无机制、例子、边界的输入全部被拦截。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78308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grammarBot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81728" y="2148840"/>
            <a:ext cx="284378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/ 140 通过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显式命中 7 项检查，暴露文法层可背穿。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30768" y="178308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05088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设计加固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148840"/>
            <a:ext cx="284378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规则只做完整性筛查；语义闸门移到服务端 AI 复评。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来源：rule-abuse-bench-results.json:2-16；对抗性审计，不作为通关方法传播。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验证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成果与验证：做过什么，证据到哪里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pic>
        <p:nvPicPr>
          <p:cNvPr id="5" name="Image 0" descr="D:\新建文件夹\github-upload\.orchestrator\pptx-work\crops-1400\功能19-测验通关-通过线75与通关清单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3017"/>
            <a:ext cx="7452360" cy="46577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32588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67928" y="15544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42248" y="1508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需求证据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67928" y="1920240"/>
            <a:ext cx="2386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n=20：80% 愿用讲解自动判断；85% 认可“能讲清 ≈ 学会”。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66760" y="288036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67928" y="310896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42248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产品证据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67928" y="3474720"/>
            <a:ext cx="2386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真实界面覆盖诊断、讲解、反馈、测验、记录导出。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366760" y="443484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67928" y="466344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42248" y="4617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验证证据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67928" y="5029200"/>
            <a:ext cx="2386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组规则审计 —— naiveBot 0/140（朴素写法全被拦，关卡不是空壳）；grammarBot 140/140（正则层只能做完整性筛查，语义闸门在服务端 AI 复评）。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暂无真实学习效果、留存或教育提升数据；问卷仅作探索性证据。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团队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团队分工：产品、工程、验证一起闭环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830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产品与技术统筹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48840"/>
            <a:ext cx="298094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后端与架构实现，统一学习逻辑与边界。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155448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178308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页面与交互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2148840"/>
            <a:ext cx="298094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课程页面、交互实现与项目文档。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155448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178308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58784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测试与实验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84464" y="2148840"/>
            <a:ext cx="298094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学习逻辑测试、数据收集与验证。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答辩稿保持双盲：不出现学校、姓名、指导老师、联系方式。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进展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项目状态：原型已成形，证据继续补齐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3736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03120"/>
            <a:ext cx="298094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静态课程、本机服务、7 模块题库、Electron 入口、认知教学设计。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150876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173736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2103120"/>
            <a:ext cx="298094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内容审校、真实用户试点、可用性测试。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150876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173736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58784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84464" y="2103120"/>
            <a:ext cx="298094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教育效果研究、迁移与延迟保持、桌面分发与授权核清。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当前为原型阶段，尚无大规模真实用户数据。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结论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核心创新：每一点都回答“比什么更好？”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5544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主动表达 + 客观测验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20240"/>
            <a:ext cx="3072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42D6C5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1554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83480" y="1325880"/>
            <a:ext cx="6172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4648" y="15544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8968" y="15087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比只看视频多一条可检查的学习证据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84648" y="1920240"/>
            <a:ext cx="57698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42D6C5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26974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来源透明 + 失败降级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3063240"/>
            <a:ext cx="3072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FFCB6B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2697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83480" y="2468880"/>
            <a:ext cx="6172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6974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26517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比黑箱式模型判定更可解释、更可用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84648" y="3063240"/>
            <a:ext cx="57698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FFCB6B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61188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" y="38404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本机运行 + 可导出记录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4206240"/>
            <a:ext cx="3072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FF7A90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34840" y="3840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83480" y="3611880"/>
            <a:ext cx="6172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4648" y="38404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8968" y="37947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比默认上传云端更易控、更易部署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84648" y="4206240"/>
            <a:ext cx="57698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FF7A90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475488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" y="49834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07008" y="4937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复用交互资产 + 学习闭环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2688" y="5349240"/>
            <a:ext cx="3072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42D6C5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34840" y="4983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983480" y="4754880"/>
            <a:ext cx="6172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84648" y="49834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58968" y="49377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比单页课程更容易形成持续练习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84648" y="5349240"/>
            <a:ext cx="57698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42D6C5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诚实披露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边界与待补证据：把风险变成下一步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554480"/>
            <a:ext cx="164592" cy="16459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5087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已定位边界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20240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静态版可被题库 answer 字段攻击；已采取服务端剥离答案措施。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880360"/>
            <a:ext cx="164592" cy="164592"/>
          </a:xfrm>
          <a:prstGeom prst="ellipse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8346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复现记录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246120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全流水线作弊 bot 在 96ms 内完成静态版流程；说明服务端模式仍需持续验收。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32588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155448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15087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待补：真实试点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10528" y="1920240"/>
            <a:ext cx="4581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真实高校教师访谈 ≥3 人、真实学生试点与教育效果数据。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65176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0528" y="288036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待补：线上链路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0528" y="3246120"/>
            <a:ext cx="4581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复评公网时延/成功率、隧道入口 /api/status 验收。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97764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151D35"/>
          </a:solidFill>
          <a:ln w="12700">
            <a:solidFill>
              <a:srgbClr val="3442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0528" y="4206240"/>
            <a:ext cx="164592" cy="16459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41605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待补：商业化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0528" y="4572000"/>
            <a:ext cx="4581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价格锚定、素材授权与桌面分发许可核清。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来源：pipeline-cheat-bot-results.json:3-18,40-42；待补项不冒充成果。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3232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2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让大学生真正开口学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3232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C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5440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公开仓库：AIMaster-Studio/ai-master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064240" y="594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EB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</dc:title>
  <dc:subject>iCAN答辩稿</dc:subject>
  <dc:creator>AI Master</dc:creator>
  <cp:lastModifiedBy>AI Master</cp:lastModifiedBy>
  <cp:revision>1</cp:revision>
  <dcterms:created xsi:type="dcterms:W3CDTF">2026-09-12T21:11:06Z</dcterms:created>
  <dcterms:modified xsi:type="dcterms:W3CDTF">2026-09-12T21:11:06Z</dcterms:modified>
</cp:coreProperties>
</file>